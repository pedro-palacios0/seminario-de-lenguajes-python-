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64008" cy="496062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INTEGRADOR  ·  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de Biodiversidad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 ·  Búsqueda  ·  Visualización  ·  Gestión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273552"/>
            <a:ext cx="7955280" cy="0"/>
          </a:xfrm>
          <a:prstGeom prst="line">
            <a:avLst/>
          </a:prstGeom>
          <a:noFill/>
          <a:ln w="12700">
            <a:solidFill>
              <a:srgbClr val="1A6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4107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Bertora Felipe  ·  Fernandes Gabito Tomás  ·  Fiaccola Valentín  ·  García Patricio  ·  Palacios Pedro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412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841248"/>
            <a:ext cx="6400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9326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2416" y="923544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y Motivación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12435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los datos de biodiversidad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1768" y="8412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01768" y="841248"/>
            <a:ext cx="6400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9326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0136" y="923544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Darwin 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0136" y="12435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estandarización internacional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17556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1755648"/>
            <a:ext cx="6400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8470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2416" y="1837944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21579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 ·  IADIZA CONICET  ·  Xeno-canto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1768" y="17556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01768" y="1755648"/>
            <a:ext cx="6400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18470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0136" y="1837944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y Arquitectura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0136" y="21579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y estructura de la aplicación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6700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670048"/>
            <a:ext cx="6400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27614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2416" y="2752344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42416" y="30723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· Búsqueda · Visualización · Gestión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01768" y="26700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01768" y="2670048"/>
            <a:ext cx="6400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27614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60136" y="2752344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0136" y="30723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Logros, desafíos y aprendizajes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y Motivación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41248"/>
            <a:ext cx="40416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841248"/>
            <a:ext cx="4041648" cy="411480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41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344168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biodiversidad provienen de múltiples instituciones con formatos incompatibles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volúmenes dificultan la búsqueda y el análisis manual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herramientas accesibles para investigadores sin perfil técnico avanzado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validar la calidad de datos: coordenadas, fechas, taxonomía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304" y="841248"/>
            <a:ext cx="40416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841248"/>
            <a:ext cx="4041648" cy="4114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841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Nuestra Solución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82896" y="1344168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unificada bajo el estándar Darwin Core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 Streamlit: accesible desde cualquier navegador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1.245.000 registros con búsqueda avanzada multi-criterio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geográficas, taxonómicas y temporales interactivas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CRUD completo con validaciones y log de auditoría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Darwin Core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04672"/>
            <a:ext cx="8375904" cy="960120"/>
          </a:xfrm>
          <a:prstGeom prst="rect">
            <a:avLst/>
          </a:prstGeom>
          <a:solidFill>
            <a:srgbClr val="1A6B47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2296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C9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Darwin Core?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estándar internacional mantenido por Biodiversity Information Standards (TDWG) para el intercambio de información sobre biodiversidad. Define términos precisos como scientificName, decimalLatitude, eventDate y kingdom, garantizando que datos de distintas instituciones sean comparables.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920240"/>
            <a:ext cx="2715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89888" y="1993392"/>
            <a:ext cx="658368" cy="65836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" y="2761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Interoperabilidad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" y="32004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museos, universidades y ONGs compartibles sin transformaciones manuales. Los tres datasets del proyecto usan exactamente los mismos nombres de campo.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36976" y="1920240"/>
            <a:ext cx="2715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42816" y="1993392"/>
            <a:ext cx="658368" cy="658368"/>
          </a:xfrm>
          <a:prstGeom prst="ellipse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74136" y="2761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Campos Estandarizados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74136" y="32004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precisos: scientificName, decimalLatitude, decimalLongitude, eventDate, kingdom, family, etc. Mapeamos 320+ campos en nuestras estructuras de datos.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1920240"/>
            <a:ext cx="2715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95744" y="1993392"/>
            <a:ext cx="658368" cy="658368"/>
          </a:xfrm>
          <a:prstGeom prst="ellipse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7064" y="2761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de Datos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27064" y="32004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reglas de validación para coordenadas, fechas ISO 8601 y jerarquías taxonómicas. Implementamos controles en alta y modificación de registros.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Utilizados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04672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04672"/>
            <a:ext cx="2788920" cy="5943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iNaturalist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1.229.609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267712"/>
            <a:ext cx="2423160" cy="0"/>
          </a:xfrm>
          <a:prstGeom prst="line">
            <a:avLst/>
          </a:prstGeom>
          <a:noFill/>
          <a:ln w="12700">
            <a:solidFill>
              <a:srgbClr val="D4E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408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/ California Academy of Sciences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7238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 ·  1768 –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 CC BY-NC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" y="3639312"/>
            <a:ext cx="2633472" cy="3657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2160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ciudadanas verificadas por la comunidad científica (research-grade)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804672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3552" y="804672"/>
            <a:ext cx="2788920" cy="594360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80467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Colección Ornitológica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IADIZA-CONICET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14813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2.366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83280" y="196596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56432" y="2267712"/>
            <a:ext cx="2423160" cy="0"/>
          </a:xfrm>
          <a:prstGeom prst="line">
            <a:avLst/>
          </a:prstGeom>
          <a:noFill/>
          <a:ln w="12700">
            <a:solidFill>
              <a:srgbClr val="D4E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3408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51460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IANIGLA · CCT CONICET Mendoza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9077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07238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y países vecinos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3375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 CC BY-NC 4.0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46704" y="3639312"/>
            <a:ext cx="2633472" cy="36576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72160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científica de especímenes de aves de institución argentina de referencia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9632" y="804672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9632" y="804672"/>
            <a:ext cx="2788920" cy="594360"/>
          </a:xfrm>
          <a:prstGeom prst="rect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80467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Xeno-canto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14813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13.471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309360" y="196596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2267712"/>
            <a:ext cx="2423160" cy="0"/>
          </a:xfrm>
          <a:prstGeom prst="line">
            <a:avLst/>
          </a:prstGeom>
          <a:noFill/>
          <a:ln w="12700">
            <a:solidFill>
              <a:srgbClr val="D4E8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3408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51460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Xeno-canto Foundation for Nature Sounds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29077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07238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3375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 CC BY-NC 4.0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72784" y="3639312"/>
            <a:ext cx="2633472" cy="36576"/>
          </a:xfrm>
          <a:prstGeom prst="rect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72160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de sonidos de aves con datos de comportamiento y localización precisa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7472" y="46634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combinado: más de 1.245.000 observaciones bajo estándar Darwin 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y Arquitectura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207008"/>
            <a:ext cx="4041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07008"/>
            <a:ext cx="6400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4358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1.56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453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Python · interfaz de usuario multi-página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755648"/>
            <a:ext cx="4041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755648"/>
            <a:ext cx="6400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922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3.0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002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y análisis de DataFrames grandes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304288"/>
            <a:ext cx="4041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304288"/>
            <a:ext cx="6400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3408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Plotly 6.7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interactivos: barras, líneas, mapas coropléticos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852928"/>
            <a:ext cx="4041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852928"/>
            <a:ext cx="6400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895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Folium 0.20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099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interactivos geográficos (basado en Leaflet.js)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401568"/>
            <a:ext cx="4041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401568"/>
            <a:ext cx="6400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3814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Pycountry 26.2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3648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códigos de países ISO 3166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3950208"/>
            <a:ext cx="4041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950208"/>
            <a:ext cx="6400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98678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4197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ETL de limpieza y normalización de datos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18304" y="804672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de la Aplicación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18304" y="1207008"/>
            <a:ext cx="4041648" cy="475488"/>
          </a:xfrm>
          <a:prstGeom prst="rect">
            <a:avLst/>
          </a:prstGeom>
          <a:solidFill>
            <a:srgbClr val="F5FDF8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8304" y="1207008"/>
            <a:ext cx="6400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124358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01184" y="1453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· información Darwin Core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1755648"/>
            <a:ext cx="4041648" cy="475488"/>
          </a:xfrm>
          <a:prstGeom prst="rect">
            <a:avLst/>
          </a:prstGeom>
          <a:solidFill>
            <a:srgbClr val="F5FDF8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18304" y="1755648"/>
            <a:ext cx="6400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17922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datasets.py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01184" y="2002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metadatos y estadísticas de calidad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18304" y="2304288"/>
            <a:ext cx="4041648" cy="475488"/>
          </a:xfrm>
          <a:prstGeom prst="rect">
            <a:avLst/>
          </a:prstGeom>
          <a:solidFill>
            <a:srgbClr val="F5FDF8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2304288"/>
            <a:ext cx="6400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23408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busqueda.py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01184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filtrado avanzado multi-criterio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18304" y="2852928"/>
            <a:ext cx="4041648" cy="475488"/>
          </a:xfrm>
          <a:prstGeom prst="rect">
            <a:avLst/>
          </a:prstGeom>
          <a:solidFill>
            <a:srgbClr val="F5FDF8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18304" y="2852928"/>
            <a:ext cx="6400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28895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visualizacion.py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01184" y="3099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geográficos, taxonómicos y temporales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18304" y="3401568"/>
            <a:ext cx="4041648" cy="475488"/>
          </a:xfrm>
          <a:prstGeom prst="rect">
            <a:avLst/>
          </a:prstGeom>
          <a:solidFill>
            <a:srgbClr val="F5FDF8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18304" y="3401568"/>
            <a:ext cx="6400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1184" y="343814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gestion_de_registros.py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01184" y="3648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· Modificación · Baja con validaciones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18304" y="3950208"/>
            <a:ext cx="4041648" cy="475488"/>
          </a:xfrm>
          <a:prstGeom prst="rect">
            <a:avLst/>
          </a:prstGeom>
          <a:solidFill>
            <a:srgbClr val="F5FDF8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3950208"/>
            <a:ext cx="6400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01184" y="398678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estado_sistema.py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01184" y="4197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auditoría y métricas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y 2: Exploración y Búsqueda Avanzada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04672"/>
            <a:ext cx="404164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804672"/>
            <a:ext cx="4041648" cy="411480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04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Exploración de Datasets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cantidad de registros y columnas por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cada campo y sus valores posibles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valores nulos por columna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de calidad entre los tres datasets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Markdown renderizada directamente en la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304" y="804672"/>
            <a:ext cx="404164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804672"/>
            <a:ext cx="4041648" cy="4114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804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Búsqueda y Filtrado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82896" y="1371600"/>
            <a:ext cx="292608" cy="29260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371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científico (multi-selección de especies)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82896" y="1847088"/>
            <a:ext cx="292608" cy="29260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18470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(búsqueda libre por nombre)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82896" y="2322576"/>
            <a:ext cx="292608" cy="29260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3225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(multi-selección)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82896" y="2798064"/>
            <a:ext cx="292608" cy="29260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7980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/ Localidad (dependiente del país)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82896" y="3273552"/>
            <a:ext cx="292608" cy="29260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32735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fechas (inicio y fin)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82896" y="3767328"/>
            <a:ext cx="3749040" cy="0"/>
          </a:xfrm>
          <a:prstGeom prst="line">
            <a:avLst/>
          </a:prstGeom>
          <a:noFill/>
          <a:ln w="12700">
            <a:solidFill>
              <a:srgbClr val="D4E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858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paginación · estadísticas · ficha de datos · exportación CSV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3: Visualizaciones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77240"/>
            <a:ext cx="42793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777240"/>
            <a:ext cx="4279392" cy="393192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777240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Geográfica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234440"/>
            <a:ext cx="4005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con los países o localidades con más registros. Escala configurable (Top N). Detecta automáticamente si filtrar por país o localidad según el contexto.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37744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Plotly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64608" y="777240"/>
            <a:ext cx="42793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777240"/>
            <a:ext cx="4279392" cy="393192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777240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Taxonómica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1234440"/>
            <a:ext cx="4005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registros por niveles taxonómicos: Clase, Orden o Familia. Se adapta a los campos disponibles en cada dataset y permite comparar riqueza de especies.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01768" y="237744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Plotly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788920"/>
            <a:ext cx="42793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88920"/>
            <a:ext cx="4279392" cy="393192"/>
          </a:xfrm>
          <a:prstGeom prst="rect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788920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Temporal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" y="3246120"/>
            <a:ext cx="4005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registros por año. Maneja fechas inválidas reportando exclusiones, y muestra la tendencia histórica con línea de tiempo interactiva.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438912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Plotly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64608" y="2788920"/>
            <a:ext cx="42793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2788920"/>
            <a:ext cx="4279392" cy="393192"/>
          </a:xfrm>
          <a:prstGeom prst="rect">
            <a:avLst/>
          </a:prstGeom>
          <a:solidFill>
            <a:srgbClr val="5C4A8A"/>
          </a:solidFill>
          <a:ln w="12700">
            <a:solidFill>
              <a:srgbClr val="5C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788920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Selección en Mapa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3246120"/>
            <a:ext cx="4005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selección de registros por área geográfica dibujada. Muestra fichas taxonómicas de las especies encontradas en la zona seleccionada.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01768" y="438912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Folium · Streamlit-Folium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y 5: Gestión de Registros y Auditoría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04672"/>
            <a:ext cx="276148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804672"/>
            <a:ext cx="2761488" cy="47548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80467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" y="1353312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guiado paso a paso (un campo por pantalla)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coordenadas, fechas ISO y códigos de país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IDs duplicados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completo de campos Darwin 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804672"/>
            <a:ext cx="276148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04672"/>
            <a:ext cx="2761488" cy="47548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80467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MODIFICACIÓN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353312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registro existente por ID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campo por campo con validación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antes de persistir cambios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en CSV y en memoria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804672"/>
            <a:ext cx="276148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804672"/>
            <a:ext cx="2761488" cy="47548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80467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6792" y="1353312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registro a eliminar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explícita del usuario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del DataFrame y del CSV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log para trazabilidad total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895344"/>
            <a:ext cx="8375904" cy="886968"/>
          </a:xfrm>
          <a:prstGeom prst="rect">
            <a:avLst/>
          </a:prstGeom>
          <a:solidFill>
            <a:srgbClr val="0A3226"/>
          </a:solidFill>
          <a:ln w="12700">
            <a:solidFill>
              <a:srgbClr val="D4E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9502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9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de Auditoría — estado_sistema.py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2245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registra: timestamp · tipo (Insert / Modify / Delete / Error) · detalles del registro. Filtros por tipo y rango de fechas. Métricas globales del sistema en tiempo real.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y Logros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3226"/>
          </a:solidFill>
          <a:ln w="12700">
            <a:solidFill>
              <a:srgbClr val="0A3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69764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Datos de Biodiversidad  ·  Trabajo Práctico Integrador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04672"/>
            <a:ext cx="1993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804672"/>
            <a:ext cx="1993392" cy="640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8696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+1.245.000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integrados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5456" y="804672"/>
            <a:ext cx="1993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804672"/>
            <a:ext cx="1993392" cy="64008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88696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96896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integradas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1993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04672"/>
            <a:ext cx="1993392" cy="64008"/>
          </a:xfrm>
          <a:prstGeom prst="rect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88696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18304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8272" y="804672"/>
            <a:ext cx="1993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804672"/>
            <a:ext cx="1993392" cy="64008"/>
          </a:xfrm>
          <a:prstGeom prst="rect">
            <a:avLst/>
          </a:prstGeom>
          <a:solidFill>
            <a:srgbClr val="5C4A8A"/>
          </a:solidFill>
          <a:ln w="12700">
            <a:solidFill>
              <a:srgbClr val="5C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88696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320+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39712" y="1508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Darwin Core mapeados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2084832"/>
            <a:ext cx="41605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084832"/>
            <a:ext cx="4160520" cy="393192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08483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Logros Técnicos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2542032"/>
            <a:ext cx="38404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tres datasets heterogéneos bajo Darwin Core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100% Python accesible desde cualquier navegador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avanzada sobre +1.2M registros con respuesta eficiente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 geográficas, taxonómicas y temporales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CRUD completo con validaciones y auditoría trazable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18304" y="2084832"/>
            <a:ext cx="41605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2084832"/>
            <a:ext cx="4160520" cy="393192"/>
          </a:xfrm>
          <a:prstGeom prst="rect">
            <a:avLst/>
          </a:prstGeom>
          <a:solidFill>
            <a:srgbClr val="1A6B47"/>
          </a:solidFill>
          <a:ln w="12700">
            <a:solidFill>
              <a:srgbClr val="1A6B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08483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82896" y="2542032"/>
            <a:ext cx="38404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datasets grandes con Pandas (encoding, delimitadores, tipos)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interfaces con Streamlit y gestión de session state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con vocabularios controlados (Darwin Core / TDWG)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mapas interactivos (Folium) en app web Python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con Git y arquitectura modular por capas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2C99A"/>
          </a:solidFill>
          <a:ln w="12700">
            <a:solidFill>
              <a:srgbClr val="52C9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64008" cy="496062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C9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Datos de Biodiversidad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12700">
            <a:solidFill>
              <a:srgbClr val="1A6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Bertora F.  ·  Fernandes Gabito T.  ·  Fiaccola V.  ·  García P.  ·  Palacios 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Datos de Biodiversidad</dc:title>
  <dc:subject>PptxGenJS Presentation</dc:subject>
  <dc:creator>Grupo Biodiversidad</dc:creator>
  <cp:lastModifiedBy>Grupo Biodiversidad</cp:lastModifiedBy>
  <cp:revision>1</cp:revision>
  <dcterms:created xsi:type="dcterms:W3CDTF">2026-05-28T12:27:08Z</dcterms:created>
  <dcterms:modified xsi:type="dcterms:W3CDTF">2026-05-28T12:27:08Z</dcterms:modified>
</cp:coreProperties>
</file>